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00B4D8"/>
                </a:solidFill>
              </a:rPr>
              <a:t>NeoFirm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</a:rPr>
              <a:t>AI Investment Committee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92608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NeoFirm AI Investment Committee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BB"/>
                </a:solidFill>
              </a:rPr>
              <a:t>Sector: AI + Expert Hybrid College Admissions Consulting (입시 컨설팅)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C300"/>
                </a:solidFill>
              </a:rPr>
              <a:t>● 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AABB"/>
                </a:solidFill>
              </a:rPr>
              <a:t>2026-10-09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NeoFirm × College Admissions Consulting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NeoFirm Operating Model: Complex expert work → separate repeatable tasks → AI automates → Expert keeps final judgment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01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Applied to: 대입 컨설팅 — 가장 반복적이고 Pain이 큰 전문가 서비스 시장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68296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AI = Scale: 데이터 수집·분석·후보군 생성·모니터링·시뮬레이션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35224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Expert = Judgment: 목표 파악·AI 검토·우선순위 결정·최종 전략·상담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Data flywheel: Student data × Expert decisions × Actual outcomes → Better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Why Admissions Consulting Fits NeoFirm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Pain: '내 성적으로 어디에 지원해야 하지?' — 불가역적 결정, 실패 비용 매우 큼 (E01)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01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반복성: 성적·학생부·지원전략이 시즌 내내 끊임없이 변화 (E06)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68296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정보 파편화: 대학·전형 정보가 흩어져 있어 최적 전략 찾기 불가 (E01)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35224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기존 구조 실패: 전문가 1인이 전부 처리 → 긴 처리 시간 + 높은 비용 + 품질 편차 (E03)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NeoFirm B2B 조건 정합: 반복·표준화 가능 업무 + 전문가 판단 필요 + 데이터 학습 효과 (Slide 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AS-IS → TO-BE: Hybrid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AS-IS: 전문가 1인 → 데이터 수집 → 학생부 분석 → 대학 비교 → 전략 수립 → 상담 (모두 혼자)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01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문제: 긴 처리 시간 + 높은 상담 비용 + 컨설턴트별 품질 편차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68296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TO-BE AI: 수집·분석·비교, 지원 가능성 분석, 수시 6장 후보군 생성, 모니터링, 전략 시뮬레이션 (E04)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35224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TO-BE Expert: 목표·상황 파악, AI 결과 검토, 우선순위 판단, 최종 전략 결정, 상담, 예외 처리 (E05)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루프: 수시 6장 전략 → 실제 지원 → 합격/불합격 → 데이터 축적 → 추천 정교화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Business Model: Free AI Diagnosis → Paid Consulting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무료 AI 진단 (Acquisition Hook): '내 성적으로 어디까지 갈 수 있을까?' — 고3·학부모 대규모 유입 (E07)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01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개인별 진단 결과: 성적·학생부 기반 맞춤 분석 → 서비스 가치 체감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68296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지원전략 관심 유도: 수시 6장 구체 전략 니즈 확인 → 자연스러운 유료 전환 욕구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35224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유료 컨설팅 전환: AI + 전문가 하이브리드 수시 6장 전략 상담 시작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시즌 내 반복 사용: 성적·학생부·전략 변화 따라 시즌 내내 재사용 (E10 — '정보가 아닌 결과를 판다')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Moat: Student Data × Expert Judgment ×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학생 증가 → 지원 데이터 축적 → 추천 정교화 → 서비스 가치 상승 → 더 많은 학생 (E09)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01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3-layer Moat: 학생 프로파일 데이터 × 전문가 수정 패턴 × 실제 합불 결과 (E08)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68296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기술적 진입장벽: 합불 데이터로 fine-tuning된 입시 특화 모델은 일반 LLM이 복제 불가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35224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Cold Start 전략: Day 1 전문가 의존 → 데이터 축적 → AI 의존도 점진적 증가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경쟁 우위 조건: 100건 이상 파일럿 데이터 축적 후 moat 실질 형성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Investment Criteria Scores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Market avg: (5+1+4+3+3)/5 = 3.2/5 — Pain 강하나 고객 검증 없음 (customer_evidence=1)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01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Technology avg: (4+1+4+4+2)/5 = 3.0/5 — 기술 가능하나 팀·프로토타입 없음 (execution_feasibility=1)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68296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Business avg: (4+1+4+3+2)/5 = 2.8/5 — 모델 설계 탁월하나 경제성 미검증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35224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공통 최저점: execution_feasibility = 1/5 (세 리뷰어 독립적으로 동일 판정)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공통 최고점: problem_severity = 5/5, 시장 구조·Pain 강도에 이견 없음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Where Reviewers Disagreed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D00 (HIGH): Market=HOLD, Technology=HOLD, Business=INVEST (Conditional)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01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분열의 성격: 비즈니스 모델에 대한 불일치가 아닌 투자 시점에 대한 불일치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68296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Market Challenge: 유료 전환율 미검증 (E13) — 이것 없이 모델이 작동하는지 알 수 없다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35224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Technology Challenge: Cold Start 문제 — 데이터 없이 플라이휠이 작동하는가?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Business Defense: 단계적 전문가 의존으로 Cold Start 우회 가능; 파일럿 후 모든 불확실성 측정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AI Committee Discussion Outcome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RESOLVED: Pain + 시장 구조 타당성 — 세 리뷰어 모두 동의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01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RESOLVED: 비즈니스 모델 논리 — 무료→유료, 코호트 재발생, '결과 판매' 모두 타당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68296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RESOLVED: Cold Start 해결 방식 — 전문가 의존도 높음→데이터 축적→AI 증가 (Technology 수용)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35224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PARTIALLY RESOLVED: D00 — 파일럿 후 INVEST 전환에는 모두 동의, 지금은 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UNRESOLVED: 전문가 확보 가능성, 규제 환경, AI 초기 품질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28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C300"/>
                </a:solidFill>
              </a:rPr>
              <a:t>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Final Decision: HOLD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Decision: HOLD | Confidence: MEDIUM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01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이유 1: execution_feasibility=1 — 팀 없음, 프로토타입 없음, 전문가 파트너 없음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68296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이유 2: customer_evidence=1 — 유료 전환율·LOI·파일럿 데이터 전무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35224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이유 3: 파일럿 후 강력한 INVEST 케이스 — PASS가 아닌 이유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0215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HOLD = 실행 증거를 조건으로 투자를 예약하는 결정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Next Validation Actions (90-Day Plan)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[30일] 창업팀 확인: AI 엔지니어 ≥1 + 입시 전문 컨설턴트 ≥1 (수시 컨설팅 5년+)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01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[45일] AI 프로토타입: 지원 가능성 분석 + 수시 6장 후보군 생성 최소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68296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[60일] 파일럿 시작: 고3 학생 10명 무료 AI 진단 → 유료 수시 6장 전략 상담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35224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[75일] 핵심 지표 측정: 유료 전환율, 전문가 수정률, 만족도, 상담당 소요 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• [90일] 투자 재검토: 전환율 ≥10% + 수정률 ≤30% + 만족도 확인 시 INVEST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Reviewer Scorecard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AABB"/>
                </a:solidFill>
              </a:rPr>
              <a:t>Criterion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1430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</a:rPr>
              <a:t>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1430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</a:rP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11430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</a:rPr>
              <a:t>BUSINESS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Business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691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1691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671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Customer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6712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6712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16712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4261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Differentiation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64261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4261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64261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11810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Evidence 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11810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11810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11810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5935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Execution Feasibility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59359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59359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59359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069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Market Opportunity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069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069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4069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5445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Problem Severity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54456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54456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454456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02005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502005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02005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502005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586983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67842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300"/>
                </a:solidFill>
              </a:rPr>
              <a:t>DECISION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5678424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C300"/>
                </a:solidFill>
              </a:rPr>
              <a:t>HOLD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678424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C300"/>
                </a:solidFill>
              </a:rPr>
              <a:t>HOLD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5678424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4DFF91"/>
                </a:solidFill>
              </a:rPr>
              <a:t>INVEST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