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NeoFirm 과제 자동 생성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68BD2"/>
                </a:solidFill>
              </a:rPr>
              <a:t>전문서비스 영역: 특허 출원·명세서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생성일시: 2026-10-08 14:00  |  Powered by NotebookLM +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과제 A: 기존 가치사슬 해부 분석서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---
현재 업로드된 소스 자료에는 과제 #6 안내 항목에서 '몰입캠프 2일차 
과제(NeoFirm)'가 과제 주제로 언급되어 있으나 [1], **'NeoFirm 과제 A (기존 
가치사슬 해부)'의 세부 분석 틀이나 '특허 출원·명세서 작성' 영역에 관한 구체적인
내용은 포함되어 있지 않습니다.**
원하신다면 웹 검색을 통해 **'특허 출원 및 명세서 작성 서비스의 가치사슬 
분석'**에 관한 자료를 조사해 드릴까요?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과제 B: AI-전문가 작업 배분표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---
현재 출처 문서에는 **NeoFirm**이 '몰입캠프 2일차 과제'의 주제로 언급되어 
있습니다 [1]. 
하지만 **'특허 출원·명세서 작성' 영역에 대한 NeoFirm 과제 B (AI-전문가 작업 
배분표)**의 세부 가이드라인이나 관련 표 내용은 문서에 수록되어 있지 않습니다 
[1]. (현재 소스 문서에는 LLM 기초 개념, Dual Process Theory, Software 3.0, 
프롬프트 엔지니어링 기법 및 수업 과제 안내 등이 포함되어 있습니다 [1, 2].)
**NeoFirm 과제 자료(예: ChatGPT-2026-NeoFirm Report) 및 특허 명세서 작성 분야의
AI-전문가 작업 배분 기준**에 대해 웹 검색 조사를 진행해 드릴까요? 승인해 주시면
웹에서 관련 정보를 검색하여 요청하신 4가지 구분 표를 작성해 드리겠습니다.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과제 C: 1페이지 투자메모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---
# [투자메모] NeoFirm 과제 C: AI 기반 테크 변리법인 (특허 출원·명세서 작성)
본 투자 메모는 **특허 출원 및 명세서 작성** 영역에서 기존 특허법인의 
고비용·수작업 구조를 혁신하는 **AI-Native 전문 서비스 법인(NeoFirm)**의 
사업성을 검토하고 정의합니다 [1]. 단순 소프트웨어(SaaS) 판매가 아닌, 법적 
책임을 직접 지는 테크 기반 변리법인(Tech-Enabled Patent Law Firm) 모델입니다.
---
### 1. 시장 규모 및 고객의 현재 지출 (한국 시장 기준 추정)
* **전체 시장 규모 (TAM)**: 한국 특허청 통계 기준, 국내 연간 특허 출원 건수는 
**약 23만~24만 건** 수준입니다.
* **건당 고객 지출 단가**: 
  * 일반 IT/소프트웨어 분야 특허 1건당 변리 수임료(명세서 작성 및 출원 대행)는 
평균 **150만 원 ~ 250만 원**입니다.
  * 중간 사건(OA 대응 등)을 제외한 순수 특허 출원 작성 시장만 **국내 약 4,500억
~ 5,000억 원** 규모로 추정됩니다.
* **주요 고객군 지출 특성**:
  * **스타트업 / 중소기업**: 연간 3~10건 출원 (연 500만~2,000만 원 지출). 빠른 
출원 속도와 합리적인 단가를 강력히 필요로 함.
  * **대기업 R&amp;D / 대학 TLO / 공공연구소**: 연간 수십~수백 건 출원 (연 수억 원 
지출). 일정 품질이 보장된다면 작성 비용 절감 및 기간 단축에 대한 니즈가 큼.
---
### 2. 첫 번째로 표준화할 좁은 업무 (구체적인 서비스 단위)
* **타겟 쐐기 업무 (Narrow Wedge)**: **"IT·소프트웨어 및 BM(비즈니스 모델) 분야
특허 초안 명세서 작성 및 청구항(Claims) 설계"**
* **선정 이유 및 세부 내용**:
  * 바이오/제약/화학 대비 로직 구조와 자연어 설명의 규격화가 용이하여 LLM 
자동화 효율이 가장 높은 분야입니다.
  * 발명자가 작성한 **발명제안서(Invention Disclosure Form, IDF)**를 입력받아 
**[기술분야·배경기술 + 발명의 상세한 설명 + 독립항/종속항 청구범위]**가 완비된 
특허 명세서 초안(Draft)을 80% 이상 완성된 형태로 자동 생성하는 과정을 
표준화합니다.
---
### 3. 결과 단위와 가격 구조 (건당 고정가 또는 성과가 예시)
* **결과 단위**: **"특허청에 즉시 제출 가능한 완결된 특허 명세서 및 출원 패키지
1건"**
* **가격 구조**:
  * **표준 출원 패키지 (건당 고정가)**: **건당 120만 원** (기존 시장가 대비 약 
40% 저렴하여 압도적 가격 경쟁력 확보).
  * **Fast-Track 48시간 패키지**: **건당 180만 원** (기존 2~3주 소요되던 명세서
작성을 48시간 이내 완성하여 빠른 선점이 필요한 스타트업 타겟).
  * **OA 연계 보장 패키지**: 출원 전 등록 가능성 AI 사전 검토 리포트 포함 
**건당 150만 원**.
---
### 4. 전문가 개입률 목표와 품질 지표
* **전문가(변리사) 개입률 목표**:
  * **초기 (1~20건)**: 변리사 개입률 **30~40%** (명세서 1건당 인력 투입 시간: 
기존 10시간 → 3~4시간 단축).
  * **목표 (100건 이후)**: 변리사 개입률 **10~15%** (건당 1~1.5시간 내 최종 
검수 및 청구항 정밀 보정으로 최적화).
* **품질 지표 (Quality Metrics)**:
  * **초안 완결성 (Draft Completeness)**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문제정의문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---
제시해주신 템플릿과 **'특허 출원 및 명세서 작성'** 영역의 특성을 바탕으로 
작성한 **NeoFirm 문제정의문**과 추가 항목입니다 [1].
---
### 1. NeoFirm 문제정의문 (완성본)
&gt; **[기술 스타트업 및 중소기업 R&amp;D 팀]**은 **[독점적 권리 범위가 확보된 고품질 
특허 명세서 및 빠른 출원]**을 얻기 위해 **[수주의 대기 기간, 건당 높은 대리인 
비용, 등록 가능성 및 청구항 품질에 대한 불확실성]**을 감수하고 있다. 기존 
공급자는 **[투입 시간/수작업 중심의 과금 구조, 반복적인 100% 서면 수작업, 
변리사 개개인에 의존한 파편화된 프로세스]** 때문에 개선할 유인이 약하다. 우리는
**[AI 기반 선행기술 자동 조사 및 명세서·청구항 초안 생성]**과 **[베테랑 
변리사의 핵심 발명 권리화 및 예외 판단]**을 결합해 **[출원 소요 시간 80% 단축 
및 높은 등록률]**을 **[투명한 건당 고정가 및 등록 성과가]**로 제공하고, 
**[전문가의 검토·수정 피드백 데이터]**를 축적해 매 건 더 빠르고 정확해지는 
서비스를 만든다.
---
### 2. 타깃 고객 프로필 (1-2줄)
* **내부 IP/법무 전담 인력이 부족하여 외부 변리사에게 의존**해야 하지만, 높은 
비용과 오랜 소요 시간, 명세서 품질의 기복에 부담을 느끼는 **초기~성장기 기술 
스타트업 및 중소기업 R&amp;D 리더/IP 담당자**.
---
### 3. 핵심 가치제안 (1-2줄)
* **AI의 고속 선행기술 분석·명세서 초안 작성**과 **베테랑 변리사의 정교한 
권리범위 검증**을 결합하여, 기존 대비 **1/5의 시간과 투명한 고정 가격**으로 
최상위 품질의 특허 출원을 제공합니다.
---
### 4. 첫 번째 KPI 3가지
1. **명세서 작성 및 출원 완료 소요 시간 (Turnaround Time)**
   * **목표**: 의뢰부터 최종 특허청 출원까지 기존 평균 3~4주에서 **3일(72시간) 
이내**로 단축.
2. **AI 초안 채택률 및 전문가 수정 비율 (AI Draft Acceptance Rate)**
   * **목표**: AI가 자동 생성한 명세서/청구항 초안을 변리사가 수정 없이 
수용하는 비율 **70% 이상 달성**.
3. **고객 재의뢰율 및 NPS (Customer Retention &amp; Satisfaction)**
   * **목표**: 투명한 고정가 및 신속한 서비스에 대한 만족도로 **분기 내 
재의뢰율 60% 이상, NPS 65점 이상 유지**.
---
💡 혹시 작성된 문제정의문을 바탕으로 **발표용 슬라이드 구성**이나 **AI Agent 간
토론 시나리오** 작성도 필요하신가요?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전체 요약 및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영역: 특허 출원·명세서 작성
✓ A. 기존 가치사슬 해부 — 공급자 매출구조·고객 불만 포인트 식별
✓ B. AI-전문가 작업 배분 — 자동화/보조/전담/금지 4분류
✓ C. 1페이지 투자메모 — 시장규모·가격구조·독점데이터 설계
✓ D. 문제정의문 — 타깃 고객·핵심 가치제안·KPI 3종
Next: 프로토타입 설계 → MVP 개발 → 초기 고객 인터뷰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